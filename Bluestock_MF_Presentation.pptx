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AA9D2B-833D-4C81-AFA8-B7C2CB3E58B0}" v="46" dt="2026-06-12T09:34:34.5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FCD65-D813-4A7A-EF78-84364D83D0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6B954B-9139-D813-DDA6-B700373465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CDA6B-A6C2-5F27-2A49-691979B45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A5C6C-5867-4B5E-A5C1-4D803BBA9EF7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6DD5C9-25FD-36F6-2687-5B8F6873F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3C7D1-4F93-6432-BDF5-8A39DC29B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25318-2411-4882-B5D9-2B338367CF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2083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31D1D-A374-CA74-6D5A-1ED30DB72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EF1B3-0E35-5933-E736-353103B39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06752-3B59-A183-97A0-D58BC831D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A5C6C-5867-4B5E-A5C1-4D803BBA9EF7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79949-1905-A048-D1C9-AC3EA0608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CD2C5-5417-A5FA-8495-FEAFB22AF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25318-2411-4882-B5D9-2B338367CF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709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63CD7-F3F5-28C1-0B28-147D19A43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9AD882-49C7-AB5A-342C-3B993463DC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F6293-6990-8B86-AAA8-C876FA727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A5C6C-5867-4B5E-A5C1-4D803BBA9EF7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73DB3B-DC09-50DB-4DDA-8ED0C0829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462FC4-1B54-229D-97CF-2639070B0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25318-2411-4882-B5D9-2B338367CF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760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6466E-0A10-FCFF-4404-B985133B5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9B81F-C8CE-A3A8-63C0-B3C3692DB2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44ED9C-A3F8-5740-4141-01CD86CC93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2A891-BD0E-1BCE-1E9E-23284BBAB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A5C6C-5867-4B5E-A5C1-4D803BBA9EF7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900782-F2AA-14C8-340A-0340B3FB3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C8C3C2-0708-31EA-C622-7D0C02EB5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25318-2411-4882-B5D9-2B338367CF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8328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3C5BE-2FC7-35F8-0DB3-F1377CCEA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EFB59-A4DA-12EB-5DC8-BD68BAED3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5F8FA5-E044-AD2F-C7E0-95FBF762E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F29892-FCDA-302E-8FAB-83BF0EF69E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7A80F8-DA06-381C-3A55-89D85AC023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54CF0A-60EF-F3F2-E76B-32F0DB6AA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A5C6C-5867-4B5E-A5C1-4D803BBA9EF7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43BE72-4A34-0E59-6BD8-7304C4F19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9142EF-2CDD-4DC1-CF75-BF4BBC9AC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25318-2411-4882-B5D9-2B338367CF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239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9253D-7228-F93C-1369-5D98668B7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EB8852-1393-02ED-8989-4546F900F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A5C6C-5867-4B5E-A5C1-4D803BBA9EF7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EF38CE-BABE-DCEC-C7AB-5A8DCF9F7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DA1F0F-2464-C5E1-AD11-3E3F1B128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25318-2411-4882-B5D9-2B338367CF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348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F29B8A-BC73-C54F-D7AA-04F8B51A9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A5C6C-5867-4B5E-A5C1-4D803BBA9EF7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047955-903D-2674-272B-12FC474DE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C6436A-3C5A-B397-079B-39505C367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25318-2411-4882-B5D9-2B338367CF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117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0E01F-E123-FB6C-118B-0401AB2D8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38112-6C7D-5C41-81E3-E19C354626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8CCA78-20C2-18C9-5B41-43AA318061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90CD96-CBED-AED3-399D-29C63E3FE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A5C6C-5867-4B5E-A5C1-4D803BBA9EF7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C81957-A25A-A52D-C5E9-7C4D22672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10F141-2314-E71C-AC9D-8A61EA643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25318-2411-4882-B5D9-2B338367CF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8030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CED02-296E-6475-2C1C-774471636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50374C-FD6A-21E2-0250-4F1732B63C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8190-9E0C-E95E-880A-CDC58CE7E3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30F8D5-63C1-A8D2-EABA-7CB0B1C5B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A5C6C-5867-4B5E-A5C1-4D803BBA9EF7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107E58-C615-C876-B2DD-5AE86B14F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7E316C-50E0-C8C2-786F-D737B8B01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25318-2411-4882-B5D9-2B338367CF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2023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DB82C-ED1B-3DA7-318A-E3C002A1A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1D43C3-389A-88FC-D443-F237A26D5F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370DF-C265-10DF-2273-4957A978E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A5C6C-5867-4B5E-A5C1-4D803BBA9EF7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E9A7C-BAD9-ABCA-1E93-3792C3F55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9F7FD-FC67-FB66-66A1-2C5DE062E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25318-2411-4882-B5D9-2B338367CF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0173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D41A92-337A-A5AD-6904-650B87E926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92669A-93F2-B5FA-1090-8F9617CD8D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7BCC8A-823E-598F-8AF7-4C21928C7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A5C6C-5867-4B5E-A5C1-4D803BBA9EF7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6BF28-8C63-1CE6-96F5-521517774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E1980-B898-56F5-C77B-CA7B155DA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25318-2411-4882-B5D9-2B338367CF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4049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ADED7E-BF5E-3EFF-6132-D5105D554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75789-FA24-4205-C638-2785C8066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BBB35-E484-3007-26AD-0984FA94BC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7A5C6C-5867-4B5E-A5C1-4D803BBA9EF7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BAAE4D-3900-FC41-66CF-3C9C7E9F68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DE155-946B-AE75-BA62-FE62A92DA4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F25318-2411-4882-B5D9-2B338367CF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0437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E1841-9273-9E59-B8DA-24640BEFA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BLUESTOCK MUTUAL FUND ANALYTICS CAPSTONE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22A57-4420-A595-FAFF-F4A1C3109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By: Bindu Madhavi Manthi</a:t>
            </a: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Duration: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01 June 2026 – 12 June 2026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Python, Pandas, NumPy, SQLite, Power BI, GitHub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To: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Bluestock Internship Team</a:t>
            </a:r>
          </a:p>
        </p:txBody>
      </p:sp>
    </p:spTree>
    <p:extLst>
      <p:ext uri="{BB962C8B-B14F-4D97-AF65-F5344CB8AC3E}">
        <p14:creationId xmlns:p14="http://schemas.microsoft.com/office/powerpoint/2010/main" val="1980037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D4EFA-797E-7C18-5500-FE7AB24BF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3572"/>
          </a:xfrm>
        </p:spPr>
        <p:txBody>
          <a:bodyPr>
            <a:norm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EA857-1582-3D80-B22F-1D7AEB079B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8699"/>
            <a:ext cx="10515600" cy="42278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Analyze mutual fund performance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Evaluate investor behavior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Assess portfolio risk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Generate actionable insights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Data-driven investment analysis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Interactive Power BI dashboard</a:t>
            </a:r>
          </a:p>
        </p:txBody>
      </p:sp>
    </p:spTree>
    <p:extLst>
      <p:ext uri="{BB962C8B-B14F-4D97-AF65-F5344CB8AC3E}">
        <p14:creationId xmlns:p14="http://schemas.microsoft.com/office/powerpoint/2010/main" val="1213692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C6FD9-0007-F2E8-ECD3-00951072C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5249"/>
          </a:xfrm>
        </p:spPr>
        <p:txBody>
          <a:bodyPr>
            <a:norm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53784-3DAD-96FE-4C87-FDFF1157AD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7858"/>
            <a:ext cx="10515600" cy="487910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Used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Fund Datasets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 Master Data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NAV Data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Scheme Performance Data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AUM by Fund House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SIP Inflow Data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Inflow Data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Folio Data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Investor Transactions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Portfolio Holdings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Benchmark Indices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datasets provide information on fund performance, investor participation, asset allocation, and market trends.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7377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B86AB-E379-7FF9-9447-4C2EF017E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380" y="74407"/>
            <a:ext cx="10515600" cy="863907"/>
          </a:xfrm>
        </p:spPr>
        <p:txBody>
          <a:bodyPr>
            <a:norm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ETL PIPELINE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B269-C589-82C1-174A-DCBEB82B20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8314"/>
            <a:ext cx="10515600" cy="5550976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ETL Workflow</a:t>
            </a:r>
          </a:p>
          <a:p>
            <a:pPr marL="0" indent="0" algn="ctr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Data</a:t>
            </a:r>
          </a:p>
          <a:p>
            <a:pPr marL="0" indent="0" algn="ctr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 algn="ctr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Ingestion</a:t>
            </a:r>
          </a:p>
          <a:p>
            <a:pPr marL="0" indent="0" algn="ctr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 algn="ctr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</a:t>
            </a:r>
          </a:p>
          <a:p>
            <a:pPr marL="0" indent="0" algn="ctr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 algn="ctr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</a:t>
            </a:r>
          </a:p>
          <a:p>
            <a:pPr marL="0" indent="0" algn="ctr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 algn="ctr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 DB</a:t>
            </a:r>
          </a:p>
          <a:p>
            <a:pPr marL="0" indent="0" algn="ctr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 algn="ctr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</a:t>
            </a:r>
          </a:p>
          <a:p>
            <a:pPr marL="0" indent="0" algn="ctr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 algn="ctr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</a:p>
          <a:p>
            <a:pPr marL="0" indent="0">
              <a:buNone/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</a:p>
          <a:p>
            <a:pPr marL="0" indent="0">
              <a:buNone/>
            </a:pP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The ETL pipeline automates the extraction, transformation, and loading of mutual fund datasets. Data quality checks, validation, and standardization ensure reliable analytical outputs.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6866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84D59-635D-0D07-B87E-3BD85507A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5920"/>
          </a:xfrm>
        </p:spPr>
        <p:txBody>
          <a:bodyPr>
            <a:norm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2D837-45AC-B6EF-3C93-0512E2ABD9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8697"/>
            <a:ext cx="10515600" cy="492826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Overview Analysis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was performed to identify trends and patterns within the mutual fund industry.</a:t>
            </a:r>
          </a:p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Areas Analyzed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 Category Distribution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AUM Trends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Growth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Participation </a:t>
            </a:r>
          </a:p>
          <a:p>
            <a:pPr marL="0" indent="0">
              <a:buNone/>
            </a:pP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                                                       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Industry_Overview.png</a:t>
            </a: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Equity-oriented schemes dominated the industry in terms of assets and investor participation.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7933CE-FA61-C8D2-B679-8E25128330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0575" y="2172546"/>
            <a:ext cx="5581444" cy="2802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493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BAD1-DAC8-9385-DC27-DD0CE1776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5752"/>
          </a:xfrm>
        </p:spPr>
        <p:txBody>
          <a:bodyPr>
            <a:norm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SIP MARKET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09F79-6A97-D419-8E64-D9DF12C74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626" y="1258529"/>
            <a:ext cx="11631561" cy="49184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SIP Growth Analysis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Monthly SIP inflow data was analyzed to understand long-term investment behavior.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growth in SIP investments.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investor participation.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preference for disciplined investing. </a:t>
            </a:r>
          </a:p>
          <a:p>
            <a:pPr marL="0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Insight                                                                 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SIP_Market_Trends.png 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Growing SIP inflows indicate increasing investor confidence in mutual funds.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DC409C-EEB0-6077-D509-A17DBF613D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141205"/>
            <a:ext cx="5588000" cy="2715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308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68327-D2BD-1CFF-13FF-4A5D5A565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5585"/>
          </a:xfrm>
        </p:spPr>
        <p:txBody>
          <a:bodyPr>
            <a:norm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29AE8-3BAC-CEFB-2BDD-B62B54725E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8529"/>
            <a:ext cx="10515600" cy="491843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Metrics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The following metrics were used to evaluate fund performance: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Annual Returns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Benchmark Comparison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Beta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Sharpe Ratio </a:t>
            </a:r>
          </a:p>
          <a:p>
            <a:pPr marL="0" indent="0">
              <a:buNone/>
            </a:pP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                                          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Fund_Performance.png 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Several mutual fund schemes generated superior risk-adjusted returns compared to benchmark indices.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9496A3-1625-EC96-5505-3844AE12E0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762" y="2115664"/>
            <a:ext cx="5607868" cy="2633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94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25597-C14D-E453-55C0-7EEB6AB90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6423"/>
          </a:xfrm>
        </p:spPr>
        <p:txBody>
          <a:bodyPr>
            <a:normAutofit fontScale="90000"/>
          </a:bodyPr>
          <a:lstStyle/>
          <a:p>
            <a:pPr algn="ctr"/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ANALYTICS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1DA26-F177-2E97-973F-0E5EF9EA1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8529"/>
            <a:ext cx="10515600" cy="523434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Risk Analytics</a:t>
            </a:r>
          </a:p>
          <a:p>
            <a:pPr marL="0" indent="0">
              <a:buNone/>
            </a:pPr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 Analysis</a:t>
            </a:r>
          </a:p>
          <a:p>
            <a:pPr marL="0" indent="0">
              <a:buNone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excess return generated relative to benchmark performance.</a:t>
            </a:r>
          </a:p>
          <a:p>
            <a:pPr marL="0" indent="0">
              <a:buNone/>
            </a:pPr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Beta Analysis</a:t>
            </a:r>
          </a:p>
          <a:p>
            <a:pPr marL="0" indent="0">
              <a:buNone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fund sensitivity to market fluctuations.</a:t>
            </a:r>
          </a:p>
          <a:p>
            <a:pPr marL="0" indent="0">
              <a:buNone/>
            </a:pPr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VaR</a:t>
            </a:r>
          </a:p>
          <a:p>
            <a:pPr marL="0" indent="0">
              <a:buNone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Estimates potential downside risk under normal market conditions.</a:t>
            </a:r>
          </a:p>
          <a:p>
            <a:pPr marL="0" indent="0">
              <a:buNone/>
            </a:pPr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VaR</a:t>
            </a:r>
          </a:p>
          <a:p>
            <a:pPr marL="0" indent="0">
              <a:buNone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expected losses beyond the VaR threshold.</a:t>
            </a:r>
          </a:p>
          <a:p>
            <a:pPr marL="0" indent="0">
              <a:buNone/>
            </a:pPr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Rolling Sharpe Ratio</a:t>
            </a:r>
          </a:p>
          <a:p>
            <a:pPr marL="0" indent="0">
              <a:buNone/>
            </a:pPr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Evaluates changing risk-adjusted performance over time.</a:t>
            </a:r>
          </a:p>
          <a:p>
            <a:pPr marL="0" indent="0">
              <a:buNone/>
            </a:pPr>
            <a:r>
              <a:rPr lang="en-IN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Outputs</a:t>
            </a:r>
          </a:p>
          <a:p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alpha_beta.csv </a:t>
            </a:r>
          </a:p>
          <a:p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fund_scorecard.csv </a:t>
            </a:r>
          </a:p>
          <a:p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final_fund_scorecard.csv </a:t>
            </a:r>
          </a:p>
          <a:p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var_cvar_report.csv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4754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3B9E2-23DC-1D62-FC73-CDEA94ABB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5752"/>
          </a:xfrm>
        </p:spPr>
        <p:txBody>
          <a:bodyPr>
            <a:norm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INVESTOR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A5014-07F5-3FF5-B05B-664DA4EFAA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58529"/>
            <a:ext cx="10852355" cy="491843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Investor Behavior Analysis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Investor transaction data was analyzed to understand participation patterns and investment behavior.</a:t>
            </a:r>
          </a:p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Growth in investor participation.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adoption of SIP investments.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long-term engagement trends. </a:t>
            </a:r>
          </a:p>
          <a:p>
            <a:pPr marL="0" indent="0">
              <a:buNone/>
            </a:pP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Value                                                      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Investor_Analytics.png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Investor analytics helps identify participation trends and potential retention opportunities.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430E6E-8A18-9F0B-966A-D50B633AAE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0969" y="2121885"/>
            <a:ext cx="5136946" cy="2577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251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6D0FD-E1A2-A002-22B8-691BB5C05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7094"/>
          </a:xfrm>
        </p:spPr>
        <p:txBody>
          <a:bodyPr>
            <a:norm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C2001-EA8B-967A-31B5-D07C0C2E0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8528"/>
            <a:ext cx="10515600" cy="5053781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IN" sz="6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</a:t>
            </a:r>
          </a:p>
          <a:p>
            <a:pPr marL="0" indent="0">
              <a:buNone/>
            </a:pPr>
            <a:r>
              <a:rPr lang="en-IN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The dashboard was developed to provide a consolidated view of mutual fund performance and market trends.</a:t>
            </a:r>
          </a:p>
          <a:p>
            <a:pPr marL="0" indent="0">
              <a:buNone/>
            </a:pPr>
            <a:r>
              <a:rPr lang="en-IN" sz="6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Pages</a:t>
            </a:r>
          </a:p>
          <a:p>
            <a:r>
              <a:rPr lang="en-IN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Overview </a:t>
            </a:r>
          </a:p>
          <a:p>
            <a:r>
              <a:rPr lang="en-IN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 Performance </a:t>
            </a:r>
          </a:p>
          <a:p>
            <a:r>
              <a:rPr lang="en-IN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Investor Analytics </a:t>
            </a:r>
          </a:p>
          <a:p>
            <a:r>
              <a:rPr lang="en-IN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SIP &amp; Market Trends </a:t>
            </a:r>
          </a:p>
          <a:p>
            <a:pPr marL="0" indent="0">
              <a:buNone/>
            </a:pPr>
            <a:r>
              <a:rPr lang="en-IN" sz="6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r>
              <a:rPr lang="en-IN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Filters </a:t>
            </a:r>
          </a:p>
          <a:p>
            <a:r>
              <a:rPr lang="en-IN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Visualizations </a:t>
            </a:r>
          </a:p>
          <a:p>
            <a:r>
              <a:rPr lang="en-IN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Drill-Down Analysis </a:t>
            </a:r>
          </a:p>
          <a:p>
            <a:r>
              <a:rPr lang="en-IN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Comparisons </a:t>
            </a:r>
          </a:p>
          <a:p>
            <a:r>
              <a:rPr lang="en-IN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Tracking 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0986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0FE4B-BDAE-8937-F0A4-066A6111C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</p:spPr>
        <p:txBody>
          <a:bodyPr>
            <a:norm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6E63A-8DB2-C0E8-E301-D4F917085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8194"/>
            <a:ext cx="10515600" cy="489876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Insights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Insights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Equity funds dominate the market.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SIP inflows show continuous growth.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Insights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schemes outperform benchmarks.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Risk-adjusted metrics provide better evaluation than absolute returns.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Investor Insights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Investor participation continues to increase.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investing behaviour is strengthening.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Insights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Portfolio concentration varies across schemes.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 and CVaR effectively identify downside risk.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32871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C61AE-5C28-A437-8DFB-0F8746D3F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5249"/>
          </a:xfrm>
        </p:spPr>
        <p:txBody>
          <a:bodyPr>
            <a:norm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FCAA6-AF71-7446-34DE-C93F55C14E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8195"/>
            <a:ext cx="10515600" cy="4286864"/>
          </a:xfrm>
        </p:spPr>
        <p:txBody>
          <a:bodyPr/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Bluestock Mutual Fund Analytics Capstone Project successfully developed an end-to-end analytics framework covering data engineering, exploratory analysis, performance evaluation, risk assessment, and dashboard visualization.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the practical application of data analytics techniques in the financial services domain and provides actionable insights for investors and analysts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7599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EA4423-31F4-507B-7811-C2D78BFD2174}"/>
              </a:ext>
            </a:extLst>
          </p:cNvPr>
          <p:cNvSpPr txBox="1"/>
          <p:nvPr/>
        </p:nvSpPr>
        <p:spPr>
          <a:xfrm>
            <a:off x="3048000" y="310583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371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647</Words>
  <Application>Microsoft Office PowerPoint</Application>
  <PresentationFormat>Widescreen</PresentationFormat>
  <Paragraphs>145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Wingdings</vt:lpstr>
      <vt:lpstr>Office Theme</vt:lpstr>
      <vt:lpstr>BLUESTOCK MUTUAL FUND ANALYTICS CAPSTONE PROJECT</vt:lpstr>
      <vt:lpstr>PROJECT OVERVIEW</vt:lpstr>
      <vt:lpstr>DATA SOURCES</vt:lpstr>
      <vt:lpstr>ETL PIPELINE ARCHITECTURE</vt:lpstr>
      <vt:lpstr>EXPLORATORY DATA ANALYSIS</vt:lpstr>
      <vt:lpstr>SIP MARKET TRENDS</vt:lpstr>
      <vt:lpstr>PERFORMANCE ANALYTICS</vt:lpstr>
      <vt:lpstr>  ADVANCED ANALYTICS </vt:lpstr>
      <vt:lpstr>INVESTOR ANALYTICS</vt:lpstr>
      <vt:lpstr>DASHBOARD DEVELOPMENT</vt:lpstr>
      <vt:lpstr>KEY FINDINGS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BINDU MANTHI</dc:creator>
  <cp:lastModifiedBy>BINDU MANTHI</cp:lastModifiedBy>
  <cp:revision>2</cp:revision>
  <dcterms:created xsi:type="dcterms:W3CDTF">2026-06-12T07:34:07Z</dcterms:created>
  <dcterms:modified xsi:type="dcterms:W3CDTF">2026-06-12T09:47:22Z</dcterms:modified>
</cp:coreProperties>
</file>